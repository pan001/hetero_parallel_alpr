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7432000" cx="36576000"/>
  <p:notesSz cx="6997700" cy="9271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640">
          <p15:clr>
            <a:srgbClr val="000000"/>
          </p15:clr>
        </p15:guide>
        <p15:guide id="2" pos="1152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hf3DNoPEdxJp8OXBSp/MamNwI2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640" orient="horz"/>
        <p:guide pos="115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4762"/>
            <a:ext cx="30321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00" spcFirstLastPara="1" rIns="370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5575" y="4762"/>
            <a:ext cx="30321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00" spcFirstLastPara="1" rIns="370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1" type="ftr"/>
          </p:nvPr>
        </p:nvSpPr>
        <p:spPr>
          <a:xfrm>
            <a:off x="0" y="8810625"/>
            <a:ext cx="30321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3700" spcFirstLastPara="1" rIns="370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2" type="sldNum"/>
          </p:nvPr>
        </p:nvSpPr>
        <p:spPr>
          <a:xfrm>
            <a:off x="3965575" y="8810625"/>
            <a:ext cx="30321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3700" spcFirstLastPara="1" rIns="3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Times New Roman"/>
              <a:buNone/>
            </a:pPr>
            <a:fld id="{00000000-1234-1234-1234-123412341234}" type="slidenum">
              <a:rPr b="0" i="1" lang="en-US" sz="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933450" y="4402137"/>
            <a:ext cx="5130800" cy="417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1625" lIns="83575" spcFirstLastPara="1" rIns="83575" wrap="square" tIns="416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/>
          <p:nvPr>
            <p:ph idx="3" type="sldImg"/>
          </p:nvPr>
        </p:nvSpPr>
        <p:spPr>
          <a:xfrm>
            <a:off x="3086100" y="2122487"/>
            <a:ext cx="827087" cy="6207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3965575" y="8810625"/>
            <a:ext cx="30321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3700" spcFirstLastPara="1" rIns="3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Times New Roman"/>
              <a:buNone/>
            </a:pPr>
            <a:fld id="{00000000-1234-1234-1234-123412341234}" type="slidenum">
              <a:rPr b="0" i="1" lang="en-US" sz="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086100" y="2122487"/>
            <a:ext cx="827087" cy="6207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933450" y="4402137"/>
            <a:ext cx="5130800" cy="417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1625" lIns="83575" spcFirstLastPara="1" rIns="83575" wrap="square" tIns="41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4572000" y="4489450"/>
            <a:ext cx="27432000" cy="955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572000" y="14408150"/>
            <a:ext cx="27432000" cy="662305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 rot="5400000">
            <a:off x="18973800" y="9525000"/>
            <a:ext cx="219456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 rot="5400000">
            <a:off x="3352800" y="1828800"/>
            <a:ext cx="21945600" cy="231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743200" y="2438400"/>
            <a:ext cx="3108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 rot="5400000">
            <a:off x="10058400" y="609600"/>
            <a:ext cx="16459200" cy="3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519363" y="1828800"/>
            <a:ext cx="11796712" cy="6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/>
          <p:nvPr>
            <p:ph idx="2" type="pic"/>
          </p:nvPr>
        </p:nvSpPr>
        <p:spPr>
          <a:xfrm>
            <a:off x="15549563" y="3949700"/>
            <a:ext cx="18516600" cy="19494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2519363" y="8229600"/>
            <a:ext cx="11796712" cy="1524635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519363" y="1828800"/>
            <a:ext cx="11796712" cy="6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5549563" y="3949700"/>
            <a:ext cx="18516600" cy="19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519363" y="8229600"/>
            <a:ext cx="11796712" cy="1524635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2743200" y="2438400"/>
            <a:ext cx="3108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2519363" y="1460500"/>
            <a:ext cx="31546800" cy="530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2519363" y="6724650"/>
            <a:ext cx="15473362" cy="3295650"/>
          </a:xfrm>
          <a:prstGeom prst="rect">
            <a:avLst/>
          </a:prstGeom>
          <a:noFill/>
          <a:ln>
            <a:noFill/>
          </a:ln>
        </p:spPr>
        <p:txBody>
          <a:bodyPr anchorCtr="0" anchor="b" bIns="184000" lIns="367975" spcFirstLastPara="1" rIns="367975" wrap="square" tIns="1840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2519363" y="10020300"/>
            <a:ext cx="15473362" cy="147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3" type="body"/>
          </p:nvPr>
        </p:nvSpPr>
        <p:spPr>
          <a:xfrm>
            <a:off x="18516600" y="6724650"/>
            <a:ext cx="15549563" cy="3295650"/>
          </a:xfrm>
          <a:prstGeom prst="rect">
            <a:avLst/>
          </a:prstGeom>
          <a:noFill/>
          <a:ln>
            <a:noFill/>
          </a:ln>
        </p:spPr>
        <p:txBody>
          <a:bodyPr anchorCtr="0" anchor="b" bIns="184000" lIns="367975" spcFirstLastPara="1" rIns="367975" wrap="square" tIns="1840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4" type="body"/>
          </p:nvPr>
        </p:nvSpPr>
        <p:spPr>
          <a:xfrm>
            <a:off x="18516600" y="10020300"/>
            <a:ext cx="15549563" cy="147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2743200" y="2438400"/>
            <a:ext cx="3108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2743200" y="7924800"/>
            <a:ext cx="154686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18364200" y="7924800"/>
            <a:ext cx="154686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2495550" y="6838950"/>
            <a:ext cx="31546800" cy="11410950"/>
          </a:xfrm>
          <a:prstGeom prst="rect">
            <a:avLst/>
          </a:prstGeom>
          <a:noFill/>
          <a:ln>
            <a:noFill/>
          </a:ln>
        </p:spPr>
        <p:txBody>
          <a:bodyPr anchorCtr="0" anchor="b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495550" y="18357850"/>
            <a:ext cx="31546800" cy="600075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2743200" y="2438400"/>
            <a:ext cx="3108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2743200" y="7924800"/>
            <a:ext cx="310896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0" type="dt"/>
          </p:nvPr>
        </p:nvSpPr>
        <p:spPr>
          <a:xfrm>
            <a:off x="27432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1" type="ftr"/>
          </p:nvPr>
        </p:nvSpPr>
        <p:spPr>
          <a:xfrm>
            <a:off x="12496800" y="24993600"/>
            <a:ext cx="1158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6212800" y="24993600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Times New Roman"/>
              <a:buNone/>
              <a:defRPr b="0" i="0" sz="5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743200" y="2438400"/>
            <a:ext cx="3108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2743200" y="7924800"/>
            <a:ext cx="310896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noAutofit/>
          </a:bodyPr>
          <a:lstStyle>
            <a:lvl1pPr indent="-1041400" lvl="0" marL="457200" marR="0" rtl="0" algn="l"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Times New Roman"/>
              <a:buChar char="•"/>
              <a:defRPr b="0" i="0" sz="1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939800" lvl="1" marL="914400" marR="0" rtl="0" algn="l"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Times New Roman"/>
              <a:buChar char="–"/>
              <a:defRPr b="0" i="0" sz="1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38200" lvl="2" marL="1371600" marR="0" rtl="0" algn="l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Times New Roman"/>
              <a:buChar char="•"/>
              <a:defRPr b="0" i="0" sz="9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36600" lvl="3" marL="18288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 New Roman"/>
              <a:buChar char="–"/>
              <a:defRPr b="0" i="0" sz="8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36600" lvl="4" marL="22860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 New Roman"/>
              <a:buChar char="•"/>
              <a:defRPr b="0" i="0" sz="8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openalpr/openalpr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019800" y="469900"/>
            <a:ext cx="242316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000" lIns="367975" spcFirstLastPara="1" rIns="367975" wrap="square" tIns="184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Times New Roman"/>
              <a:buNone/>
            </a:pPr>
            <a:r>
              <a:rPr b="0" i="0" lang="en-US" sz="5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Heterogeneous Parallelized Automatic Number Plate Recognition System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5065037" y="3571875"/>
            <a:ext cx="10972800" cy="22313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752600" y="2060575"/>
            <a:ext cx="32918400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Hsiaohan Chen, Yichen PAN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 University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2393950" y="6248400"/>
            <a:ext cx="2387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286000" y="13825537"/>
            <a:ext cx="106680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286000" y="16873537"/>
            <a:ext cx="10668000" cy="2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790700" y="3417887"/>
            <a:ext cx="10312400" cy="2231231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171700" y="10447337"/>
            <a:ext cx="9906000" cy="8742362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License Plate Detection: LBP algorithm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Binarization: Sauvola algorithm</a:t>
            </a:r>
            <a:endParaRPr/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1.846× speedup on multi-core CPUs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3.3351× on GPUs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4.1527× on finally integrated heterogeneous system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171700" y="3592512"/>
            <a:ext cx="9931400" cy="6280150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 </a:t>
            </a:r>
            <a:endParaRPr/>
          </a:p>
          <a:p>
            <a: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number plate recognition (ANPR) is a computation intensive and latency critical application</a:t>
            </a:r>
            <a:endParaRPr/>
          </a:p>
          <a:p>
            <a: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independent workload and multiple stages can benefit greatly from parallel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endParaRPr/>
          </a:p>
          <a:p>
            <a: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Parallelize the whole pipeline on multi-core CPUs and GPUs</a:t>
            </a:r>
            <a:endParaRPr/>
          </a:p>
          <a:p>
            <a: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two parallel into one heterogeneous system that maximizes performance</a:t>
            </a:r>
            <a:endParaRPr/>
          </a:p>
        </p:txBody>
      </p:sp>
      <p:cxnSp>
        <p:nvCxnSpPr>
          <p:cNvPr id="98" name="Google Shape;98;p1"/>
          <p:cNvCxnSpPr/>
          <p:nvPr/>
        </p:nvCxnSpPr>
        <p:spPr>
          <a:xfrm>
            <a:off x="2400300" y="10287000"/>
            <a:ext cx="9448800" cy="0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9" name="Google Shape;99;p1"/>
          <p:cNvSpPr txBox="1"/>
          <p:nvPr/>
        </p:nvSpPr>
        <p:spPr>
          <a:xfrm>
            <a:off x="13849350" y="25387300"/>
            <a:ext cx="837565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25" lIns="365450" spcFirstLastPara="1" rIns="365450" wrap="square" tIns="182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5065037" y="3665537"/>
            <a:ext cx="10248900" cy="13174662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spAutoFit/>
          </a:bodyPr>
          <a:lstStyle/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Multi-core CPU Parallel:</a:t>
            </a:r>
            <a:endParaRPr/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 Parallel:</a:t>
            </a:r>
            <a:endParaRPr/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Heterogeneous Parallel:</a:t>
            </a:r>
            <a:endParaRPr/>
          </a:p>
        </p:txBody>
      </p:sp>
      <p:cxnSp>
        <p:nvCxnSpPr>
          <p:cNvPr id="101" name="Google Shape;101;p1"/>
          <p:cNvCxnSpPr/>
          <p:nvPr/>
        </p:nvCxnSpPr>
        <p:spPr>
          <a:xfrm>
            <a:off x="25222200" y="22583775"/>
            <a:ext cx="10548937" cy="0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2" name="Google Shape;102;p1"/>
          <p:cNvSpPr txBox="1"/>
          <p:nvPr/>
        </p:nvSpPr>
        <p:spPr>
          <a:xfrm>
            <a:off x="25141237" y="22583775"/>
            <a:ext cx="10629900" cy="3819525"/>
          </a:xfrm>
          <a:prstGeom prst="rect">
            <a:avLst/>
          </a:prstGeom>
          <a:noFill/>
          <a:ln>
            <a:noFill/>
          </a:ln>
        </p:spPr>
        <p:txBody>
          <a:bodyPr anchorCtr="0" anchor="t" bIns="184000" lIns="367975" spcFirstLastPara="1" rIns="367975" wrap="square" tIns="184000">
            <a:spAutoFit/>
          </a:bodyPr>
          <a:lstStyle/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Parallelize OCR stage</a:t>
            </a:r>
            <a:endParaRPr/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OpenCL to better parallelize on heterogenous platform</a:t>
            </a:r>
            <a:endParaRPr/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 b="1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Openalpr: Automatic license plate recognition library.</a:t>
            </a:r>
            <a:endParaRPr/>
          </a:p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https://github.com/openalpr/openalpr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0" y="304800"/>
            <a:ext cx="36576000" cy="81597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97487" y="447675"/>
            <a:ext cx="4208462" cy="5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0887" y="18808700"/>
            <a:ext cx="9955212" cy="65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3762" y="2449512"/>
            <a:ext cx="15374937" cy="2494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96887" y="4887912"/>
            <a:ext cx="9307512" cy="357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26701750" y="8537575"/>
            <a:ext cx="9874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analysis of Multi-core CPU-based parallelized pipeline on GHC machine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012750" y="16679838"/>
            <a:ext cx="9077325" cy="55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897663" y="9775775"/>
            <a:ext cx="9307525" cy="559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1998-03-03T17:19:34Z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